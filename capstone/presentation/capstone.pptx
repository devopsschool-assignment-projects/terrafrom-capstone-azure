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Over the next hour each of you builds the same complete infrastructure in a shared Azure account, then deploys a real three-tier app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path left to right. Everything here is created by Terraform from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managed database on purpose: you learn how Kubernetes keeps data safe with a persistent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module only wires modules together. Each child module is small and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LAB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3-tier app on Azure with Terraform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Database on your own AKS cluster, behind a WAF, on your own subdomain</a:t>
            </a:r>
            <a:endParaRPr lang="en-US" sz="1800" dirty="0"/>
          </a:p>
        </p:txBody>
      </p:sp>
      <p:sp>
        <p:nvSpPr>
          <p:cNvPr id="5" name="chip0"/>
          <p:cNvSpPr/>
          <p:nvPr/>
        </p:nvSpPr>
        <p:spPr>
          <a:xfrm>
            <a:off x="64008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1300" dirty="0"/>
          </a:p>
        </p:txBody>
      </p:sp>
      <p:sp>
        <p:nvSpPr>
          <p:cNvPr id="7" name="chip1"/>
          <p:cNvSpPr/>
          <p:nvPr/>
        </p:nvSpPr>
        <p:spPr>
          <a:xfrm>
            <a:off x="214884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9" name="chip2"/>
          <p:cNvSpPr/>
          <p:nvPr/>
        </p:nvSpPr>
        <p:spPr>
          <a:xfrm>
            <a:off x="365760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300" dirty="0"/>
          </a:p>
        </p:txBody>
      </p:sp>
      <p:sp>
        <p:nvSpPr>
          <p:cNvPr id="11" name="chip3"/>
          <p:cNvSpPr/>
          <p:nvPr/>
        </p:nvSpPr>
        <p:spPr>
          <a:xfrm>
            <a:off x="5166360" y="3931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build</a:t>
            </a:r>
            <a:endParaRPr lang="en-US" sz="3000" dirty="0"/>
          </a:p>
        </p:txBody>
      </p:sp>
      <p:sp>
        <p:nvSpPr>
          <p:cNvPr id="3" name="box-Browser"/>
          <p:cNvSpPr/>
          <p:nvPr/>
        </p:nvSpPr>
        <p:spPr>
          <a:xfrm>
            <a:off x="457200" y="1188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361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app.student03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.lab.collabgigs.com</a:t>
            </a:r>
            <a:endParaRPr lang="en-US" sz="1100" dirty="0"/>
          </a:p>
        </p:txBody>
      </p:sp>
      <p:sp>
        <p:nvSpPr>
          <p:cNvPr id="6" name="box-Azure DNS"/>
          <p:cNvSpPr/>
          <p:nvPr/>
        </p:nvSpPr>
        <p:spPr>
          <a:xfrm>
            <a:off x="2103120" y="1188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5361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</a:t>
            </a:r>
            <a:endParaRPr lang="en-US" sz="1100" dirty="0"/>
          </a:p>
        </p:txBody>
      </p:sp>
      <p:sp>
        <p:nvSpPr>
          <p:cNvPr id="9" name="box-App Gateway + WAF"/>
          <p:cNvSpPr/>
          <p:nvPr/>
        </p:nvSpPr>
        <p:spPr>
          <a:xfrm>
            <a:off x="3749040" y="11887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+ WAF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536192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attacks</a:t>
            </a:r>
            <a:endParaRPr lang="en-US" sz="1100" dirty="0"/>
          </a:p>
        </p:txBody>
      </p:sp>
      <p:sp>
        <p:nvSpPr>
          <p:cNvPr id="12" name="box-Internal LB"/>
          <p:cNvSpPr/>
          <p:nvPr/>
        </p:nvSpPr>
        <p:spPr>
          <a:xfrm>
            <a:off x="5669280" y="1188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15361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</a:t>
            </a:r>
            <a:endParaRPr lang="en-US" sz="1100" dirty="0"/>
          </a:p>
        </p:txBody>
      </p:sp>
      <p:sp>
        <p:nvSpPr>
          <p:cNvPr id="15" name="aks-area"/>
          <p:cNvSpPr/>
          <p:nvPr/>
        </p:nvSpPr>
        <p:spPr>
          <a:xfrm>
            <a:off x="457200" y="242316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- 1 worker node (namespace: capstone)</a:t>
            </a:r>
            <a:endParaRPr lang="en-US" sz="1300" dirty="0"/>
          </a:p>
        </p:txBody>
      </p:sp>
      <p:sp>
        <p:nvSpPr>
          <p:cNvPr id="17" name="box-Frontend"/>
          <p:cNvSpPr/>
          <p:nvPr/>
        </p:nvSpPr>
        <p:spPr>
          <a:xfrm>
            <a:off x="731520" y="28803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2278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web page</a:t>
            </a:r>
            <a:endParaRPr lang="en-US" sz="1100" dirty="0"/>
          </a:p>
        </p:txBody>
      </p:sp>
      <p:sp>
        <p:nvSpPr>
          <p:cNvPr id="20" name="box-Backend"/>
          <p:cNvSpPr/>
          <p:nvPr/>
        </p:nvSpPr>
        <p:spPr>
          <a:xfrm>
            <a:off x="2834640" y="28803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3464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32278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API</a:t>
            </a:r>
            <a:endParaRPr lang="en-US" sz="1100" dirty="0"/>
          </a:p>
        </p:txBody>
      </p:sp>
      <p:sp>
        <p:nvSpPr>
          <p:cNvPr id="23" name="box-Database"/>
          <p:cNvSpPr/>
          <p:nvPr/>
        </p:nvSpPr>
        <p:spPr>
          <a:xfrm>
            <a:off x="4937760" y="28803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2278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an Azure Disk</a:t>
            </a:r>
            <a:endParaRPr lang="en-US" sz="1100" dirty="0"/>
          </a:p>
        </p:txBody>
      </p:sp>
      <p:sp>
        <p:nvSpPr>
          <p:cNvPr id="26" name="box-Key Vault"/>
          <p:cNvSpPr/>
          <p:nvPr/>
        </p:nvSpPr>
        <p:spPr>
          <a:xfrm>
            <a:off x="6903720" y="28803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953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22783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Entra ID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your resource group: Container Registry, Storage Account, VNet, managed identities</a:t>
            </a:r>
            <a:endParaRPr lang="en-US" sz="1200" dirty="0"/>
          </a:p>
        </p:txBody>
      </p:sp>
      <p:sp>
        <p:nvSpPr>
          <p:cNvPr id="30" name="arrow0"/>
          <p:cNvSpPr/>
          <p:nvPr/>
        </p:nvSpPr>
        <p:spPr>
          <a:xfrm>
            <a:off x="1828800" y="1627632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31" name="arrow1"/>
          <p:cNvSpPr/>
          <p:nvPr/>
        </p:nvSpPr>
        <p:spPr>
          <a:xfrm>
            <a:off x="3474720" y="1627632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32" name="arrow2"/>
          <p:cNvSpPr/>
          <p:nvPr/>
        </p:nvSpPr>
        <p:spPr>
          <a:xfrm>
            <a:off x="5394960" y="1627632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cluster</a:t>
            </a:r>
            <a:endParaRPr lang="en-US" sz="3000" dirty="0"/>
          </a:p>
        </p:txBody>
      </p:sp>
      <p:sp>
        <p:nvSpPr>
          <p:cNvPr id="3" name="tier1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serves the web page and forwards /api calls to the backend.</a:t>
            </a:r>
            <a:endParaRPr lang="en-US" sz="1500" dirty="0"/>
          </a:p>
        </p:txBody>
      </p:sp>
      <p:sp>
        <p:nvSpPr>
          <p:cNvPr id="8" name="tier2"/>
          <p:cNvSpPr/>
          <p:nvPr/>
        </p:nvSpPr>
        <p:spPr>
          <a:xfrm>
            <a:off x="324612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API: saves guest-book messages and reads the banner from Key Vault.</a:t>
            </a:r>
            <a:endParaRPr lang="en-US" sz="1500" dirty="0"/>
          </a:p>
        </p:txBody>
      </p:sp>
      <p:sp>
        <p:nvSpPr>
          <p:cNvPr id="13" name="tier3"/>
          <p:cNvSpPr/>
          <p:nvPr/>
        </p:nvSpPr>
        <p:spPr>
          <a:xfrm>
            <a:off x="603504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63640" y="1508760"/>
            <a:ext cx="640080" cy="640080"/>
          </a:xfrm>
          <a:prstGeom prst="ellipse">
            <a:avLst/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runs INSIDE the cluster (StatefulSet) with data on an Azure Disk.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services you will use</a:t>
            </a:r>
            <a:endParaRPr lang="en-US" sz="3000" dirty="0"/>
          </a:p>
        </p:txBody>
      </p:sp>
      <p:sp>
        <p:nvSpPr>
          <p:cNvPr id="3" name="svc0"/>
          <p:cNvSpPr/>
          <p:nvPr/>
        </p:nvSpPr>
        <p:spPr>
          <a:xfrm>
            <a:off x="45720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ranges</a:t>
            </a:r>
            <a:endParaRPr lang="en-US" sz="1300" dirty="0"/>
          </a:p>
        </p:txBody>
      </p:sp>
      <p:sp>
        <p:nvSpPr>
          <p:cNvPr id="6" name="svc1"/>
          <p:cNvSpPr/>
          <p:nvPr/>
        </p:nvSpPr>
        <p:spPr>
          <a:xfrm>
            <a:off x="2542032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300" dirty="0"/>
          </a:p>
        </p:txBody>
      </p:sp>
      <p:sp>
        <p:nvSpPr>
          <p:cNvPr id="9" name="svc2"/>
          <p:cNvSpPr/>
          <p:nvPr/>
        </p:nvSpPr>
        <p:spPr>
          <a:xfrm>
            <a:off x="4626864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4024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images</a:t>
            </a:r>
            <a:endParaRPr lang="en-US" sz="1300" dirty="0"/>
          </a:p>
        </p:txBody>
      </p:sp>
      <p:sp>
        <p:nvSpPr>
          <p:cNvPr id="12" name="svc3"/>
          <p:cNvSpPr/>
          <p:nvPr/>
        </p:nvSpPr>
        <p:spPr>
          <a:xfrm>
            <a:off x="6711696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no passwords</a:t>
            </a:r>
            <a:endParaRPr lang="en-US" sz="1300" dirty="0"/>
          </a:p>
        </p:txBody>
      </p:sp>
      <p:sp>
        <p:nvSpPr>
          <p:cNvPr id="15" name="svc4"/>
          <p:cNvSpPr/>
          <p:nvPr/>
        </p:nvSpPr>
        <p:spPr>
          <a:xfrm>
            <a:off x="457200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and roles</a:t>
            </a:r>
            <a:endParaRPr lang="en-US" sz="1300" dirty="0"/>
          </a:p>
        </p:txBody>
      </p:sp>
      <p:sp>
        <p:nvSpPr>
          <p:cNvPr id="18" name="svc5"/>
          <p:cNvSpPr/>
          <p:nvPr/>
        </p:nvSpPr>
        <p:spPr>
          <a:xfrm>
            <a:off x="2542032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9192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+ WAF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679192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front door</a:t>
            </a:r>
            <a:endParaRPr lang="en-US" sz="1300" dirty="0"/>
          </a:p>
        </p:txBody>
      </p:sp>
      <p:sp>
        <p:nvSpPr>
          <p:cNvPr id="21" name="svc6"/>
          <p:cNvSpPr/>
          <p:nvPr/>
        </p:nvSpPr>
        <p:spPr>
          <a:xfrm>
            <a:off x="4626864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764024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fixed IP</a:t>
            </a:r>
            <a:endParaRPr lang="en-US" sz="1300" dirty="0"/>
          </a:p>
        </p:txBody>
      </p:sp>
      <p:sp>
        <p:nvSpPr>
          <p:cNvPr id="24" name="svc7"/>
          <p:cNvSpPr/>
          <p:nvPr/>
        </p:nvSpPr>
        <p:spPr>
          <a:xfrm>
            <a:off x="6711696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48856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subdomain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Azure Disks (database storage) and a Storage Account (backups)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root module, ten child modules</a:t>
            </a:r>
            <a:endParaRPr lang="en-US" sz="3000" dirty="0"/>
          </a:p>
        </p:txBody>
      </p:sp>
      <p:sp>
        <p:nvSpPr>
          <p:cNvPr id="3" name="tree"/>
          <p:cNvSpPr/>
          <p:nvPr/>
        </p:nvSpPr>
        <p:spPr>
          <a:xfrm>
            <a:off x="457200" y="1188720"/>
            <a:ext cx="3749040" cy="3337560"/>
          </a:xfrm>
          <a:prstGeom prst="roundRect">
            <a:avLst>
              <a:gd name="adj" fmla="val 21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config/master-values.yaml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infra/        &lt;- root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modules/      &lt;- child modules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          &lt;- frontend, backend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      &lt;- deploy, validate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bootstrap/    &lt;- instructor,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1400" dirty="0"/>
          </a:p>
        </p:txBody>
      </p:sp>
      <p:sp>
        <p:nvSpPr>
          <p:cNvPr id="5" name="mod0"/>
          <p:cNvSpPr/>
          <p:nvPr/>
        </p:nvSpPr>
        <p:spPr>
          <a:xfrm>
            <a:off x="4480560" y="1188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90288" y="1188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7" name="mod1"/>
          <p:cNvSpPr/>
          <p:nvPr/>
        </p:nvSpPr>
        <p:spPr>
          <a:xfrm>
            <a:off x="6629400" y="1188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39128" y="1188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9" name="mod2"/>
          <p:cNvSpPr/>
          <p:nvPr/>
        </p:nvSpPr>
        <p:spPr>
          <a:xfrm>
            <a:off x="4480560" y="1865376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1865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1400" dirty="0"/>
          </a:p>
        </p:txBody>
      </p:sp>
      <p:sp>
        <p:nvSpPr>
          <p:cNvPr id="11" name="mod3"/>
          <p:cNvSpPr/>
          <p:nvPr/>
        </p:nvSpPr>
        <p:spPr>
          <a:xfrm>
            <a:off x="6629400" y="1865376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1865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keyvault</a:t>
            </a:r>
            <a:endParaRPr lang="en-US" sz="1400" dirty="0"/>
          </a:p>
        </p:txBody>
      </p:sp>
      <p:sp>
        <p:nvSpPr>
          <p:cNvPr id="13" name="mod4"/>
          <p:cNvSpPr/>
          <p:nvPr/>
        </p:nvSpPr>
        <p:spPr>
          <a:xfrm>
            <a:off x="4480560" y="2542032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0288" y="25420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1400" dirty="0"/>
          </a:p>
        </p:txBody>
      </p:sp>
      <p:sp>
        <p:nvSpPr>
          <p:cNvPr id="15" name="mod5"/>
          <p:cNvSpPr/>
          <p:nvPr/>
        </p:nvSpPr>
        <p:spPr>
          <a:xfrm>
            <a:off x="6629400" y="2542032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39128" y="25420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workload-identity</a:t>
            </a:r>
            <a:endParaRPr lang="en-US" sz="1400" dirty="0"/>
          </a:p>
        </p:txBody>
      </p:sp>
      <p:sp>
        <p:nvSpPr>
          <p:cNvPr id="17" name="mod6"/>
          <p:cNvSpPr/>
          <p:nvPr/>
        </p:nvSpPr>
        <p:spPr>
          <a:xfrm>
            <a:off x="4480560" y="3218688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3218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9" name="mod7"/>
          <p:cNvSpPr/>
          <p:nvPr/>
        </p:nvSpPr>
        <p:spPr>
          <a:xfrm>
            <a:off x="6629400" y="3218688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39128" y="3218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appgw</a:t>
            </a:r>
            <a:endParaRPr lang="en-US" sz="1400" dirty="0"/>
          </a:p>
        </p:txBody>
      </p:sp>
      <p:sp>
        <p:nvSpPr>
          <p:cNvPr id="21" name="mod8"/>
          <p:cNvSpPr/>
          <p:nvPr/>
        </p:nvSpPr>
        <p:spPr>
          <a:xfrm>
            <a:off x="4480560" y="3895344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0288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400" dirty="0"/>
          </a:p>
        </p:txBody>
      </p:sp>
      <p:sp>
        <p:nvSpPr>
          <p:cNvPr id="23" name="mod9"/>
          <p:cNvSpPr/>
          <p:nvPr/>
        </p:nvSpPr>
        <p:spPr>
          <a:xfrm>
            <a:off x="6629400" y="3895344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39128" y="38953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master file drives every student</a:t>
            </a:r>
            <a:endParaRPr lang="en-US" sz="3000" dirty="0"/>
          </a:p>
        </p:txBody>
      </p:sp>
      <p:sp>
        <p:nvSpPr>
          <p:cNvPr id="3" name="yaml"/>
          <p:cNvSpPr/>
          <p:nvPr/>
        </p:nvSpPr>
        <p:spPr>
          <a:xfrm>
            <a:off x="457200" y="1188720"/>
            <a:ext cx="4846320" cy="3337560"/>
          </a:xfrm>
          <a:prstGeom prst="roundRect">
            <a:avLst>
              <a:gd name="adj" fmla="val 21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westus3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node_vm_size: Standard_D2s_v6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node_count: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base_domain: lab.collabgigs.com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student01: { index: 1, banner: "Hello"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student02: { index: 2, banner: "Hello"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(12 rows)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different row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45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./scripts/deploy.sh student03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finds your row and builds your names, your IP range (10.3.0.0/16) and your subdomain.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has their own state file, so 12 people can deploy at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passwords: Entra ID workload identity</a:t>
            </a:r>
            <a:endParaRPr lang="en-US" sz="3000" dirty="0"/>
          </a:p>
        </p:txBody>
      </p:sp>
      <p:sp>
        <p:nvSpPr>
          <p:cNvPr id="3" name="id0"/>
          <p:cNvSpPr/>
          <p:nvPr/>
        </p:nvSpPr>
        <p:spPr>
          <a:xfrm>
            <a:off x="457200" y="146304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Kubernetes service account</a:t>
            </a:r>
            <a:endParaRPr lang="en-US" sz="1400" dirty="0"/>
          </a:p>
        </p:txBody>
      </p:sp>
      <p:sp>
        <p:nvSpPr>
          <p:cNvPr id="6" name="idarrow0"/>
          <p:cNvSpPr/>
          <p:nvPr/>
        </p:nvSpPr>
        <p:spPr>
          <a:xfrm>
            <a:off x="2331720" y="2377440"/>
            <a:ext cx="22860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7" name="id1"/>
          <p:cNvSpPr/>
          <p:nvPr/>
        </p:nvSpPr>
        <p:spPr>
          <a:xfrm>
            <a:off x="2560320" y="146304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OIDC issuer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 token for that pod</a:t>
            </a:r>
            <a:endParaRPr lang="en-US" sz="1400" dirty="0"/>
          </a:p>
        </p:txBody>
      </p:sp>
      <p:sp>
        <p:nvSpPr>
          <p:cNvPr id="10" name="idarrow1"/>
          <p:cNvSpPr/>
          <p:nvPr/>
        </p:nvSpPr>
        <p:spPr>
          <a:xfrm>
            <a:off x="4434840" y="2377440"/>
            <a:ext cx="22860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1" name="id2"/>
          <p:cNvSpPr/>
          <p:nvPr/>
        </p:nvSpPr>
        <p:spPr>
          <a:xfrm>
            <a:off x="4663440" y="146304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the token (federated credential)</a:t>
            </a:r>
            <a:endParaRPr lang="en-US" sz="1400" dirty="0"/>
          </a:p>
        </p:txBody>
      </p:sp>
      <p:sp>
        <p:nvSpPr>
          <p:cNvPr id="14" name="idarrow2"/>
          <p:cNvSpPr/>
          <p:nvPr/>
        </p:nvSpPr>
        <p:spPr>
          <a:xfrm>
            <a:off x="6537960" y="2377440"/>
            <a:ext cx="22860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5" name="id3"/>
          <p:cNvSpPr/>
          <p:nvPr/>
        </p:nvSpPr>
        <p:spPr>
          <a:xfrm>
            <a:off x="6766560" y="146304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secret (role: Secrets User)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it work: the blue banner on your web page is a Key Vault secret.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one request</a:t>
            </a:r>
            <a:endParaRPr lang="en-US" sz="3000" dirty="0"/>
          </a:p>
        </p:txBody>
      </p:sp>
      <p:sp>
        <p:nvSpPr>
          <p:cNvPr id="3" name="step0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Cloudflare hands your subdomain to Azure DNS, which returns the gateway IP</a:t>
            </a:r>
            <a:endParaRPr lang="en-US" sz="1600" dirty="0"/>
          </a:p>
        </p:txBody>
      </p:sp>
      <p:sp>
        <p:nvSpPr>
          <p:cNvPr id="6" name="step1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74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receives the request; the WAF blocks attacks with a 403</a:t>
            </a:r>
            <a:endParaRPr lang="en-US" sz="1600" dirty="0"/>
          </a:p>
        </p:txBody>
      </p:sp>
      <p:sp>
        <p:nvSpPr>
          <p:cNvPr id="9" name="step2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traffic goes to the internal load balancer (fixed private IP)</a:t>
            </a:r>
            <a:endParaRPr lang="en-US" sz="1600" dirty="0"/>
          </a:p>
        </p:txBody>
      </p:sp>
      <p:sp>
        <p:nvSpPr>
          <p:cNvPr id="12" name="step3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serves the page and forwards /api to the backend</a:t>
            </a:r>
            <a:endParaRPr lang="en-US" sz="1600" dirty="0"/>
          </a:p>
        </p:txBody>
      </p:sp>
      <p:sp>
        <p:nvSpPr>
          <p:cNvPr id="15" name="step4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reads and writes PostgreSQL on an Azure Disk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in 4 commands</a:t>
            </a:r>
            <a:endParaRPr lang="en-US" sz="3000" dirty="0"/>
          </a:p>
        </p:txBody>
      </p:sp>
      <p:sp>
        <p:nvSpPr>
          <p:cNvPr id="3" name="cmd0"/>
          <p:cNvSpPr/>
          <p:nvPr/>
        </p:nvSpPr>
        <p:spPr>
          <a:xfrm>
            <a:off x="457200" y="11887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5" name="cmdbox0"/>
          <p:cNvSpPr/>
          <p:nvPr/>
        </p:nvSpPr>
        <p:spPr>
          <a:xfrm>
            <a:off x="2103120" y="118872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188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./scripts/preflight.sh student03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188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login, quota</a:t>
            </a:r>
            <a:endParaRPr lang="en-US" sz="1400" dirty="0"/>
          </a:p>
        </p:txBody>
      </p:sp>
      <p:sp>
        <p:nvSpPr>
          <p:cNvPr id="8" name="cmd1"/>
          <p:cNvSpPr/>
          <p:nvPr/>
        </p:nvSpPr>
        <p:spPr>
          <a:xfrm>
            <a:off x="457200" y="20574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10" name="cmdbox1"/>
          <p:cNvSpPr/>
          <p:nvPr/>
        </p:nvSpPr>
        <p:spPr>
          <a:xfrm>
            <a:off x="2103120" y="205740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2057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./scripts/deploy.sh student03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43 resources</a:t>
            </a:r>
            <a:endParaRPr lang="en-US" sz="1400" dirty="0"/>
          </a:p>
        </p:txBody>
      </p:sp>
      <p:sp>
        <p:nvSpPr>
          <p:cNvPr id="13" name="cmd2"/>
          <p:cNvSpPr/>
          <p:nvPr/>
        </p:nvSpPr>
        <p:spPr>
          <a:xfrm>
            <a:off x="45720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5" name="cmdbox2"/>
          <p:cNvSpPr/>
          <p:nvPr/>
        </p:nvSpPr>
        <p:spPr>
          <a:xfrm>
            <a:off x="2103120" y="292608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./scripts/validate.sh student03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DNS, app, Key Vault, WAF</a:t>
            </a:r>
            <a:endParaRPr lang="en-US" sz="1400" dirty="0"/>
          </a:p>
        </p:txBody>
      </p:sp>
      <p:sp>
        <p:nvSpPr>
          <p:cNvPr id="18" name="cmd3"/>
          <p:cNvSpPr/>
          <p:nvPr/>
        </p:nvSpPr>
        <p:spPr>
          <a:xfrm>
            <a:off x="457200" y="37947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94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800" dirty="0"/>
          </a:p>
        </p:txBody>
      </p:sp>
      <p:sp>
        <p:nvSpPr>
          <p:cNvPr id="20" name="cmdbox3"/>
          <p:cNvSpPr/>
          <p:nvPr/>
        </p:nvSpPr>
        <p:spPr>
          <a:xfrm>
            <a:off x="2103120" y="379476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8600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./scripts/destroy.sh student03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billing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it deploys, then explore</a:t>
            </a:r>
            <a:endParaRPr lang="en-US" sz="3000" dirty="0"/>
          </a:p>
        </p:txBody>
      </p:sp>
      <p:sp>
        <p:nvSpPr>
          <p:cNvPr id="3" name="q0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database pod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messages still there? Why?</a:t>
            </a:r>
            <a:endParaRPr lang="en-US" sz="1500" dirty="0"/>
          </a:p>
        </p:txBody>
      </p:sp>
      <p:sp>
        <p:nvSpPr>
          <p:cNvPr id="6" name="q1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what Kubernetes created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 the MC_ resource group in the portal</a:t>
            </a:r>
            <a:endParaRPr lang="en-US" sz="1500" dirty="0"/>
          </a:p>
        </p:txBody>
      </p:sp>
      <p:sp>
        <p:nvSpPr>
          <p:cNvPr id="9" name="q2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your own site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...?q=&lt;script&gt;  Who said no?</a:t>
            </a:r>
            <a:endParaRPr lang="en-US" sz="1500" dirty="0"/>
          </a:p>
        </p:txBody>
      </p:sp>
      <p:sp>
        <p:nvSpPr>
          <p:cNvPr id="12" name="q3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your banner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master file, deploy again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2 replicas, a pg_dump CronJob to Storage, HTTPS on the gateway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kind to the budget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45720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</a:t>
            </a:r>
            <a:endParaRPr lang="en-US" sz="1600" dirty="0"/>
          </a:p>
        </p:txBody>
      </p:sp>
      <p:sp>
        <p:nvSpPr>
          <p:cNvPr id="6" name="stat1"/>
          <p:cNvSpPr/>
          <p:nvPr/>
        </p:nvSpPr>
        <p:spPr>
          <a:xfrm>
            <a:off x="324612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 each</a:t>
            </a:r>
            <a:endParaRPr lang="en-US" sz="1600" dirty="0"/>
          </a:p>
        </p:txBody>
      </p:sp>
      <p:sp>
        <p:nvSpPr>
          <p:cNvPr id="9" name="stat2"/>
          <p:cNvSpPr/>
          <p:nvPr/>
        </p:nvSpPr>
        <p:spPr>
          <a:xfrm>
            <a:off x="603504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hour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Gateway is the biggest cost.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./scripts/destroy.sh before you leave.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your own student id - the account is shared.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practised</a:t>
            </a:r>
            <a:endParaRPr lang="en-US" sz="3600" dirty="0"/>
          </a:p>
        </p:txBody>
      </p:sp>
      <p:sp>
        <p:nvSpPr>
          <p:cNvPr id="3" name="learn0"/>
          <p:cNvSpPr/>
          <p:nvPr/>
        </p:nvSpPr>
        <p:spPr>
          <a:xfrm>
            <a:off x="640080" y="16459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and child modules</a:t>
            </a:r>
            <a:endParaRPr lang="en-US" sz="1600" dirty="0"/>
          </a:p>
        </p:txBody>
      </p:sp>
      <p:sp>
        <p:nvSpPr>
          <p:cNvPr id="5" name="learn1"/>
          <p:cNvSpPr/>
          <p:nvPr/>
        </p:nvSpPr>
        <p:spPr>
          <a:xfrm>
            <a:off x="4663440" y="16459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645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values file, many environments</a:t>
            </a:r>
            <a:endParaRPr lang="en-US" sz="1600" dirty="0"/>
          </a:p>
        </p:txBody>
      </p:sp>
      <p:sp>
        <p:nvSpPr>
          <p:cNvPr id="7" name="learn2"/>
          <p:cNvSpPr/>
          <p:nvPr/>
        </p:nvSpPr>
        <p:spPr>
          <a:xfrm>
            <a:off x="640080" y="251460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per student</a:t>
            </a:r>
            <a:endParaRPr lang="en-US" sz="1600" dirty="0"/>
          </a:p>
        </p:txBody>
      </p:sp>
      <p:sp>
        <p:nvSpPr>
          <p:cNvPr id="9" name="learn3"/>
          <p:cNvSpPr/>
          <p:nvPr/>
        </p:nvSpPr>
        <p:spPr>
          <a:xfrm>
            <a:off x="4663440" y="251460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514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AKS, ACR, Key Vault, Entra ID</a:t>
            </a:r>
            <a:endParaRPr lang="en-US" sz="1600" dirty="0"/>
          </a:p>
        </p:txBody>
      </p:sp>
      <p:sp>
        <p:nvSpPr>
          <p:cNvPr id="11" name="learn4"/>
          <p:cNvSpPr/>
          <p:nvPr/>
        </p:nvSpPr>
        <p:spPr>
          <a:xfrm>
            <a:off x="640080" y="338328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+ WAF + internal LB</a:t>
            </a:r>
            <a:endParaRPr lang="en-US" sz="1600" dirty="0"/>
          </a:p>
        </p:txBody>
      </p:sp>
      <p:sp>
        <p:nvSpPr>
          <p:cNvPr id="13" name="learn5"/>
          <p:cNvSpPr/>
          <p:nvPr/>
        </p:nvSpPr>
        <p:spPr>
          <a:xfrm>
            <a:off x="4663440" y="338328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2385A"/>
          </a:solidFill>
          <a:ln w="12700">
            <a:solidFill>
              <a:srgbClr val="1238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383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and a database in Kubernetes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Start with docs/LAB-GUIDE.md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Lab">
  <a:themeElements>
    <a:clrScheme name="Capstone Lab">
      <a:dk1>
        <a:srgbClr val="0B1F33"/>
      </a:dk1>
      <a:lt1>
        <a:srgbClr val="FFFFFF"/>
      </a:lt1>
      <a:dk2>
        <a:srgbClr val="12385A"/>
      </a:dk2>
      <a:lt2>
        <a:srgbClr val="EAF2F8"/>
      </a:lt2>
      <a:accent1>
        <a:srgbClr val="0F8B8D"/>
      </a:accent1>
      <a:accent2>
        <a:srgbClr val="F2A541"/>
      </a:accent2>
      <a:accent3>
        <a:srgbClr val="2E6F9E"/>
      </a:accent3>
      <a:accent4>
        <a:srgbClr val="6C8EAD"/>
      </a:accent4>
      <a:accent5>
        <a:srgbClr val="D1495B"/>
      </a:accent5>
      <a:accent6>
        <a:srgbClr val="3A9D5D"/>
      </a:accent6>
      <a:hlink>
        <a:srgbClr val="2E6F9E"/>
      </a:hlink>
      <a:folHlink>
        <a:srgbClr val="6C8EAD"/>
      </a:folHlink>
    </a:clrScheme>
    <a:fontScheme name="Capstone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3-tier app on Azure with Terraform</dc:title>
  <dc:subject>PptxGenJS Presentation</dc:subject>
  <dc:creator>PptxGenJS</dc:creator>
  <cp:lastModifiedBy>PptxGenJS</cp:lastModifiedBy>
  <cp:revision>1</cp:revision>
  <dcterms:created xsi:type="dcterms:W3CDTF">2026-10-16T08:54:28Z</dcterms:created>
  <dcterms:modified xsi:type="dcterms:W3CDTF">2026-10-16T08:54:28Z</dcterms:modified>
</cp:coreProperties>
</file>